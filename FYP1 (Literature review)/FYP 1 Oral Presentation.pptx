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317" r:id="rId5"/>
    <p:sldId id="307" r:id="rId6"/>
    <p:sldId id="314" r:id="rId7"/>
    <p:sldId id="308" r:id="rId8"/>
    <p:sldId id="309" r:id="rId9"/>
    <p:sldId id="318" r:id="rId10"/>
    <p:sldId id="319" r:id="rId11"/>
    <p:sldId id="278" r:id="rId12"/>
    <p:sldId id="320" r:id="rId13"/>
    <p:sldId id="321" r:id="rId14"/>
    <p:sldId id="322" r:id="rId15"/>
    <p:sldId id="312" r:id="rId16"/>
    <p:sldId id="310" r:id="rId17"/>
    <p:sldId id="335" r:id="rId18"/>
    <p:sldId id="323" r:id="rId19"/>
    <p:sldId id="324" r:id="rId20"/>
    <p:sldId id="325" r:id="rId21"/>
    <p:sldId id="326" r:id="rId22"/>
    <p:sldId id="329" r:id="rId23"/>
    <p:sldId id="327" r:id="rId24"/>
    <p:sldId id="328" r:id="rId25"/>
    <p:sldId id="330" r:id="rId26"/>
    <p:sldId id="331" r:id="rId27"/>
    <p:sldId id="332" r:id="rId28"/>
    <p:sldId id="333" r:id="rId29"/>
    <p:sldId id="334" r:id="rId30"/>
    <p:sldId id="30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BA8CB-5A38-4862-AFFC-89E81042A269}" v="10" dt="2026-02-06T05:28:17.612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a A/P Muniandy" userId="30ee2955-de5c-46d1-b34f-6ca20bcf7a9f" providerId="ADAL" clId="{9E4C37C3-1520-4D89-8865-554783E5C6C0}"/>
    <pc:docChg chg="custSel addSld modSld sldOrd">
      <pc:chgData name="Mohana A/P Muniandy" userId="30ee2955-de5c-46d1-b34f-6ca20bcf7a9f" providerId="ADAL" clId="{9E4C37C3-1520-4D89-8865-554783E5C6C0}" dt="2026-02-06T05:31:20.230" v="142" actId="1076"/>
      <pc:docMkLst>
        <pc:docMk/>
      </pc:docMkLst>
      <pc:sldChg chg="modSp mod">
        <pc:chgData name="Mohana A/P Muniandy" userId="30ee2955-de5c-46d1-b34f-6ca20bcf7a9f" providerId="ADAL" clId="{9E4C37C3-1520-4D89-8865-554783E5C6C0}" dt="2026-02-06T05:31:20.230" v="142" actId="1076"/>
        <pc:sldMkLst>
          <pc:docMk/>
          <pc:sldMk cId="2188828507" sldId="304"/>
        </pc:sldMkLst>
        <pc:spChg chg="mod">
          <ac:chgData name="Mohana A/P Muniandy" userId="30ee2955-de5c-46d1-b34f-6ca20bcf7a9f" providerId="ADAL" clId="{9E4C37C3-1520-4D89-8865-554783E5C6C0}" dt="2026-02-06T05:26:48.052" v="76" actId="790"/>
          <ac:spMkLst>
            <pc:docMk/>
            <pc:sldMk cId="2188828507" sldId="304"/>
            <ac:spMk id="4" creationId="{52C0D8C2-3510-D82E-D4DF-7F1222E772E2}"/>
          </ac:spMkLst>
        </pc:spChg>
        <pc:spChg chg="mod">
          <ac:chgData name="Mohana A/P Muniandy" userId="30ee2955-de5c-46d1-b34f-6ca20bcf7a9f" providerId="ADAL" clId="{9E4C37C3-1520-4D89-8865-554783E5C6C0}" dt="2026-02-06T05:31:20.230" v="142" actId="1076"/>
          <ac:spMkLst>
            <pc:docMk/>
            <pc:sldMk cId="2188828507" sldId="304"/>
            <ac:spMk id="6" creationId="{D5DC0028-4150-0F89-E59C-F563C67F6CFD}"/>
          </ac:spMkLst>
        </pc:spChg>
      </pc:sldChg>
      <pc:sldChg chg="modSp mod">
        <pc:chgData name="Mohana A/P Muniandy" userId="30ee2955-de5c-46d1-b34f-6ca20bcf7a9f" providerId="ADAL" clId="{9E4C37C3-1520-4D89-8865-554783E5C6C0}" dt="2026-02-06T05:27:00.789" v="81" actId="20577"/>
        <pc:sldMkLst>
          <pc:docMk/>
          <pc:sldMk cId="1338167130" sldId="317"/>
        </pc:sldMkLst>
        <pc:spChg chg="mod">
          <ac:chgData name="Mohana A/P Muniandy" userId="30ee2955-de5c-46d1-b34f-6ca20bcf7a9f" providerId="ADAL" clId="{9E4C37C3-1520-4D89-8865-554783E5C6C0}" dt="2026-02-06T05:27:00.789" v="81" actId="20577"/>
          <ac:spMkLst>
            <pc:docMk/>
            <pc:sldMk cId="1338167130" sldId="317"/>
            <ac:spMk id="3" creationId="{B45A4A65-E8B8-40CF-7ABD-97EA8FA97521}"/>
          </ac:spMkLst>
        </pc:spChg>
      </pc:sldChg>
      <pc:sldChg chg="modSp mod">
        <pc:chgData name="Mohana A/P Muniandy" userId="30ee2955-de5c-46d1-b34f-6ca20bcf7a9f" providerId="ADAL" clId="{9E4C37C3-1520-4D89-8865-554783E5C6C0}" dt="2026-02-06T05:27:25.164" v="82" actId="21"/>
        <pc:sldMkLst>
          <pc:docMk/>
          <pc:sldMk cId="2707003018" sldId="323"/>
        </pc:sldMkLst>
        <pc:spChg chg="mod">
          <ac:chgData name="Mohana A/P Muniandy" userId="30ee2955-de5c-46d1-b34f-6ca20bcf7a9f" providerId="ADAL" clId="{9E4C37C3-1520-4D89-8865-554783E5C6C0}" dt="2026-02-06T05:27:25.164" v="82" actId="21"/>
          <ac:spMkLst>
            <pc:docMk/>
            <pc:sldMk cId="2707003018" sldId="323"/>
            <ac:spMk id="2" creationId="{87BD59FC-2D0A-D5B1-AFEE-437234BFD7DD}"/>
          </ac:spMkLst>
        </pc:spChg>
      </pc:sldChg>
      <pc:sldChg chg="modSp mod">
        <pc:chgData name="Mohana A/P Muniandy" userId="30ee2955-de5c-46d1-b34f-6ca20bcf7a9f" providerId="ADAL" clId="{9E4C37C3-1520-4D89-8865-554783E5C6C0}" dt="2026-02-06T05:28:31.145" v="128" actId="6549"/>
        <pc:sldMkLst>
          <pc:docMk/>
          <pc:sldMk cId="1333109179" sldId="324"/>
        </pc:sldMkLst>
        <pc:spChg chg="mod">
          <ac:chgData name="Mohana A/P Muniandy" userId="30ee2955-de5c-46d1-b34f-6ca20bcf7a9f" providerId="ADAL" clId="{9E4C37C3-1520-4D89-8865-554783E5C6C0}" dt="2026-02-06T05:28:31.145" v="128" actId="6549"/>
          <ac:spMkLst>
            <pc:docMk/>
            <pc:sldMk cId="1333109179" sldId="324"/>
            <ac:spMk id="2" creationId="{7755D5FC-E2B3-16A5-83DA-3F6B84FEB4FB}"/>
          </ac:spMkLst>
        </pc:spChg>
      </pc:sldChg>
      <pc:sldChg chg="modSp mod">
        <pc:chgData name="Mohana A/P Muniandy" userId="30ee2955-de5c-46d1-b34f-6ca20bcf7a9f" providerId="ADAL" clId="{9E4C37C3-1520-4D89-8865-554783E5C6C0}" dt="2026-02-06T05:28:37.145" v="129" actId="6549"/>
        <pc:sldMkLst>
          <pc:docMk/>
          <pc:sldMk cId="1029386432" sldId="325"/>
        </pc:sldMkLst>
        <pc:spChg chg="mod">
          <ac:chgData name="Mohana A/P Muniandy" userId="30ee2955-de5c-46d1-b34f-6ca20bcf7a9f" providerId="ADAL" clId="{9E4C37C3-1520-4D89-8865-554783E5C6C0}" dt="2026-02-06T05:28:37.145" v="129" actId="6549"/>
          <ac:spMkLst>
            <pc:docMk/>
            <pc:sldMk cId="1029386432" sldId="325"/>
            <ac:spMk id="2" creationId="{D0137DB1-4868-E676-D471-05AF20517437}"/>
          </ac:spMkLst>
        </pc:spChg>
      </pc:sldChg>
      <pc:sldChg chg="modSp mod">
        <pc:chgData name="Mohana A/P Muniandy" userId="30ee2955-de5c-46d1-b34f-6ca20bcf7a9f" providerId="ADAL" clId="{9E4C37C3-1520-4D89-8865-554783E5C6C0}" dt="2026-02-06T05:28:41.963" v="130" actId="6549"/>
        <pc:sldMkLst>
          <pc:docMk/>
          <pc:sldMk cId="1278711446" sldId="326"/>
        </pc:sldMkLst>
        <pc:spChg chg="mod">
          <ac:chgData name="Mohana A/P Muniandy" userId="30ee2955-de5c-46d1-b34f-6ca20bcf7a9f" providerId="ADAL" clId="{9E4C37C3-1520-4D89-8865-554783E5C6C0}" dt="2026-02-06T05:28:41.963" v="130" actId="6549"/>
          <ac:spMkLst>
            <pc:docMk/>
            <pc:sldMk cId="1278711446" sldId="326"/>
            <ac:spMk id="2" creationId="{10FFB515-A323-5460-9037-E0CBB1DC9202}"/>
          </ac:spMkLst>
        </pc:spChg>
      </pc:sldChg>
      <pc:sldChg chg="modSp mod">
        <pc:chgData name="Mohana A/P Muniandy" userId="30ee2955-de5c-46d1-b34f-6ca20bcf7a9f" providerId="ADAL" clId="{9E4C37C3-1520-4D89-8865-554783E5C6C0}" dt="2026-02-06T05:29:04.394" v="132" actId="20577"/>
        <pc:sldMkLst>
          <pc:docMk/>
          <pc:sldMk cId="419401234" sldId="328"/>
        </pc:sldMkLst>
        <pc:spChg chg="mod">
          <ac:chgData name="Mohana A/P Muniandy" userId="30ee2955-de5c-46d1-b34f-6ca20bcf7a9f" providerId="ADAL" clId="{9E4C37C3-1520-4D89-8865-554783E5C6C0}" dt="2026-02-06T05:29:04.394" v="132" actId="20577"/>
          <ac:spMkLst>
            <pc:docMk/>
            <pc:sldMk cId="419401234" sldId="328"/>
            <ac:spMk id="3" creationId="{DCB35B81-C19E-6584-4A51-439A60F3848E}"/>
          </ac:spMkLst>
        </pc:spChg>
      </pc:sldChg>
      <pc:sldChg chg="modSp add mod">
        <pc:chgData name="Mohana A/P Muniandy" userId="30ee2955-de5c-46d1-b34f-6ca20bcf7a9f" providerId="ADAL" clId="{9E4C37C3-1520-4D89-8865-554783E5C6C0}" dt="2026-02-06T05:29:08.243" v="133" actId="20577"/>
        <pc:sldMkLst>
          <pc:docMk/>
          <pc:sldMk cId="131004046" sldId="330"/>
        </pc:sldMkLst>
        <pc:spChg chg="mod">
          <ac:chgData name="Mohana A/P Muniandy" userId="30ee2955-de5c-46d1-b34f-6ca20bcf7a9f" providerId="ADAL" clId="{9E4C37C3-1520-4D89-8865-554783E5C6C0}" dt="2026-02-06T05:21:48.953" v="2"/>
          <ac:spMkLst>
            <pc:docMk/>
            <pc:sldMk cId="131004046" sldId="330"/>
            <ac:spMk id="2" creationId="{E65C9951-E98C-25FF-0E70-2E1657CCC46A}"/>
          </ac:spMkLst>
        </pc:spChg>
        <pc:spChg chg="mod">
          <ac:chgData name="Mohana A/P Muniandy" userId="30ee2955-de5c-46d1-b34f-6ca20bcf7a9f" providerId="ADAL" clId="{9E4C37C3-1520-4D89-8865-554783E5C6C0}" dt="2026-02-06T05:29:08.243" v="133" actId="20577"/>
          <ac:spMkLst>
            <pc:docMk/>
            <pc:sldMk cId="131004046" sldId="330"/>
            <ac:spMk id="3" creationId="{1ABE7CC6-A7D1-0675-91A2-0FD0B9CA1B83}"/>
          </ac:spMkLst>
        </pc:spChg>
      </pc:sldChg>
      <pc:sldChg chg="add">
        <pc:chgData name="Mohana A/P Muniandy" userId="30ee2955-de5c-46d1-b34f-6ca20bcf7a9f" providerId="ADAL" clId="{9E4C37C3-1520-4D89-8865-554783E5C6C0}" dt="2026-02-06T05:22:14.800" v="8" actId="2890"/>
        <pc:sldMkLst>
          <pc:docMk/>
          <pc:sldMk cId="3962873255" sldId="331"/>
        </pc:sldMkLst>
      </pc:sldChg>
      <pc:sldChg chg="modSp add mod">
        <pc:chgData name="Mohana A/P Muniandy" userId="30ee2955-de5c-46d1-b34f-6ca20bcf7a9f" providerId="ADAL" clId="{9E4C37C3-1520-4D89-8865-554783E5C6C0}" dt="2026-02-06T05:29:28.564" v="136" actId="20577"/>
        <pc:sldMkLst>
          <pc:docMk/>
          <pc:sldMk cId="4255603369" sldId="332"/>
        </pc:sldMkLst>
        <pc:spChg chg="mod">
          <ac:chgData name="Mohana A/P Muniandy" userId="30ee2955-de5c-46d1-b34f-6ca20bcf7a9f" providerId="ADAL" clId="{9E4C37C3-1520-4D89-8865-554783E5C6C0}" dt="2026-02-06T05:29:28.564" v="136" actId="20577"/>
          <ac:spMkLst>
            <pc:docMk/>
            <pc:sldMk cId="4255603369" sldId="332"/>
            <ac:spMk id="3" creationId="{A4B33827-D0A6-E4A1-289C-BB4949A65C69}"/>
          </ac:spMkLst>
        </pc:spChg>
      </pc:sldChg>
      <pc:sldChg chg="modSp add mod">
        <pc:chgData name="Mohana A/P Muniandy" userId="30ee2955-de5c-46d1-b34f-6ca20bcf7a9f" providerId="ADAL" clId="{9E4C37C3-1520-4D89-8865-554783E5C6C0}" dt="2026-02-06T05:24:53.936" v="62" actId="14100"/>
        <pc:sldMkLst>
          <pc:docMk/>
          <pc:sldMk cId="3780609613" sldId="333"/>
        </pc:sldMkLst>
        <pc:spChg chg="mod">
          <ac:chgData name="Mohana A/P Muniandy" userId="30ee2955-de5c-46d1-b34f-6ca20bcf7a9f" providerId="ADAL" clId="{9E4C37C3-1520-4D89-8865-554783E5C6C0}" dt="2026-02-06T05:23:58.966" v="35"/>
          <ac:spMkLst>
            <pc:docMk/>
            <pc:sldMk cId="3780609613" sldId="333"/>
            <ac:spMk id="2" creationId="{1A15A128-F80F-93C8-447B-624E4F272F32}"/>
          </ac:spMkLst>
        </pc:spChg>
        <pc:spChg chg="mod">
          <ac:chgData name="Mohana A/P Muniandy" userId="30ee2955-de5c-46d1-b34f-6ca20bcf7a9f" providerId="ADAL" clId="{9E4C37C3-1520-4D89-8865-554783E5C6C0}" dt="2026-02-06T05:24:53.936" v="62" actId="14100"/>
          <ac:spMkLst>
            <pc:docMk/>
            <pc:sldMk cId="3780609613" sldId="333"/>
            <ac:spMk id="3" creationId="{D1E0F6E3-5324-C103-D058-C276D02EC3DE}"/>
          </ac:spMkLst>
        </pc:spChg>
      </pc:sldChg>
      <pc:sldChg chg="modSp add mod">
        <pc:chgData name="Mohana A/P Muniandy" userId="30ee2955-de5c-46d1-b34f-6ca20bcf7a9f" providerId="ADAL" clId="{9E4C37C3-1520-4D89-8865-554783E5C6C0}" dt="2026-02-06T05:25:41.939" v="69" actId="20577"/>
        <pc:sldMkLst>
          <pc:docMk/>
          <pc:sldMk cId="817597660" sldId="334"/>
        </pc:sldMkLst>
        <pc:spChg chg="mod">
          <ac:chgData name="Mohana A/P Muniandy" userId="30ee2955-de5c-46d1-b34f-6ca20bcf7a9f" providerId="ADAL" clId="{9E4C37C3-1520-4D89-8865-554783E5C6C0}" dt="2026-02-06T05:25:41.939" v="69" actId="20577"/>
          <ac:spMkLst>
            <pc:docMk/>
            <pc:sldMk cId="817597660" sldId="334"/>
            <ac:spMk id="3" creationId="{01479CC8-7C07-8361-6106-B47C27B31C1E}"/>
          </ac:spMkLst>
        </pc:spChg>
      </pc:sldChg>
      <pc:sldChg chg="addSp delSp modSp new mod ord">
        <pc:chgData name="Mohana A/P Muniandy" userId="30ee2955-de5c-46d1-b34f-6ca20bcf7a9f" providerId="ADAL" clId="{9E4C37C3-1520-4D89-8865-554783E5C6C0}" dt="2026-02-06T05:28:17.612" v="127"/>
        <pc:sldMkLst>
          <pc:docMk/>
          <pc:sldMk cId="350905888" sldId="335"/>
        </pc:sldMkLst>
        <pc:spChg chg="mod">
          <ac:chgData name="Mohana A/P Muniandy" userId="30ee2955-de5c-46d1-b34f-6ca20bcf7a9f" providerId="ADAL" clId="{9E4C37C3-1520-4D89-8865-554783E5C6C0}" dt="2026-02-06T05:28:17.612" v="127"/>
          <ac:spMkLst>
            <pc:docMk/>
            <pc:sldMk cId="350905888" sldId="335"/>
            <ac:spMk id="2" creationId="{DC9DBD5A-53B7-08CD-41D0-6A01F48A9B2A}"/>
          </ac:spMkLst>
        </pc:spChg>
        <pc:spChg chg="del">
          <ac:chgData name="Mohana A/P Muniandy" userId="30ee2955-de5c-46d1-b34f-6ca20bcf7a9f" providerId="ADAL" clId="{9E4C37C3-1520-4D89-8865-554783E5C6C0}" dt="2026-02-06T05:28:06.615" v="86" actId="931"/>
          <ac:spMkLst>
            <pc:docMk/>
            <pc:sldMk cId="350905888" sldId="335"/>
            <ac:spMk id="3" creationId="{8C0F0CF1-F3AF-0FC8-93CD-A7003D224026}"/>
          </ac:spMkLst>
        </pc:spChg>
        <pc:picChg chg="add mod">
          <ac:chgData name="Mohana A/P Muniandy" userId="30ee2955-de5c-46d1-b34f-6ca20bcf7a9f" providerId="ADAL" clId="{9E4C37C3-1520-4D89-8865-554783E5C6C0}" dt="2026-02-06T05:28:06.615" v="86" actId="931"/>
          <ac:picMkLst>
            <pc:docMk/>
            <pc:sldMk cId="350905888" sldId="335"/>
            <ac:picMk id="5" creationId="{DDF4F3A2-30B7-9635-49DC-562BEF48D76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5C33A-1C3D-2A41-7A17-683E253C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FB033-10BE-BC5B-AA35-5DC4C5C7E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0E764-7EF9-B87F-5DC8-5520AA213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579FB-9562-47BB-38C4-051C1E6B4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40727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226D-A8D6-1207-066A-DB734506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920F46-A75D-A51E-6D1D-1B40729D4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DD9F7-9FB1-D785-B97B-98D9AD756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D9D60-A4F8-E8DF-7803-841BBBE6F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442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02F87-3DAE-98D1-C000-A78EB770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ACBC4-5F57-307C-E6BA-55E628E40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F3516-1891-D7C9-DCB7-4623E978B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B986D-33BC-C2B0-7260-F236A132F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5315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BFCF-C4B1-2EB1-E269-F4F38CF7F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B4825-AF17-CEF5-7D68-E5196B6B8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1F001-18C5-1372-A54C-BC36CB962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99AB3-58BF-EDED-3984-EA1722AEC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5965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EAC68-0CDF-3415-1361-E970D416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85DA6-E1E5-15CE-7CEB-BD8F55FF0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489C4-A079-5B9D-8E69-20D3BC55C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4749-26E9-4C25-790A-60C3EE31E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16650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2530 FYP 1 Oral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0576539"/>
              </p:ext>
            </p:extLst>
          </p:nvPr>
        </p:nvGraphicFramePr>
        <p:xfrm>
          <a:off x="6869113" y="1143000"/>
          <a:ext cx="4190999" cy="4614818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r>
                        <a:rPr lang="en-US" sz="2400" b="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SLIDES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DELIVERY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AREA OF ASSESSMENTS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12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FINAL TIPS &amp; TAKEAWAYS</a:t>
                      </a: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Introduction: Oral 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8" y="2039111"/>
            <a:ext cx="10360151" cy="3840480"/>
          </a:xfrm>
        </p:spPr>
        <p:txBody>
          <a:bodyPr>
            <a:normAutofit/>
          </a:bodyPr>
          <a:lstStyle/>
          <a:p>
            <a:pPr marL="985022" lvl="1">
              <a:buBlip>
                <a:blip r:embed="rId3"/>
              </a:buBlip>
            </a:pPr>
            <a:r>
              <a:rPr lang="en-US" altLang="en-US" sz="2800" dirty="0"/>
              <a:t>Students who have submitted a minimum of 6 meeting logs</a:t>
            </a:r>
          </a:p>
          <a:p>
            <a:pPr marL="985022" lvl="1">
              <a:buBlip>
                <a:blip r:embed="rId3"/>
              </a:buBlip>
            </a:pPr>
            <a:r>
              <a:rPr lang="en-US" altLang="en-US" sz="2800" dirty="0"/>
              <a:t>Students who have submitted their final interim report</a:t>
            </a:r>
          </a:p>
          <a:p>
            <a:pPr marL="985022" lvl="1">
              <a:buBlip>
                <a:blip r:embed="rId3"/>
              </a:buBlip>
            </a:pPr>
            <a:r>
              <a:rPr lang="en-US" altLang="en-US" sz="2800" dirty="0"/>
              <a:t>The student should attend the on the time slot allocated. </a:t>
            </a:r>
          </a:p>
          <a:p>
            <a:pPr marL="985022" lvl="1">
              <a:buBlip>
                <a:blip r:embed="rId3"/>
              </a:buBlip>
            </a:pPr>
            <a:r>
              <a:rPr lang="en-US" altLang="en-US" sz="2800" dirty="0"/>
              <a:t>Supervisor and Moderator will normally evaluate the presentation together – check on your slot with your supervisors</a:t>
            </a:r>
          </a:p>
          <a:p>
            <a:pPr marL="985022" lvl="1">
              <a:buBlip>
                <a:blip r:embed="rId3"/>
              </a:buBlip>
            </a:pPr>
            <a:r>
              <a:rPr lang="en-US" altLang="en-US" sz="2800" dirty="0"/>
              <a:t>30 minutes will be allocated including the Q and A section.</a:t>
            </a:r>
          </a:p>
          <a:p>
            <a:pPr marL="985022" lvl="1">
              <a:buBlip>
                <a:blip r:embed="rId3"/>
              </a:buBlip>
            </a:pPr>
            <a:r>
              <a:rPr lang="en-US" altLang="en-US" sz="2800" dirty="0"/>
              <a:t>Oral presentation will be held from 12 February – 24 February 2026.</a:t>
            </a:r>
            <a:endParaRPr lang="en-US" altLang="en-US" sz="2800" b="1" dirty="0">
              <a:solidFill>
                <a:srgbClr val="0000FF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/>
          <a:lstStyle/>
          <a:p>
            <a:r>
              <a:rPr lang="en-US" dirty="0"/>
              <a:t>Slides</a:t>
            </a:r>
          </a:p>
        </p:txBody>
      </p:sp>
      <p:pic>
        <p:nvPicPr>
          <p:cNvPr id="8" name="Picture Placeholder 21" descr="Person in black skirt and white shirt holding some dandelions">
            <a:extLst>
              <a:ext uri="{FF2B5EF4-FFF2-40B4-BE49-F238E27FC236}">
                <a16:creationId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" b="18"/>
          <a:stretch/>
        </p:blipFill>
        <p:spPr>
          <a:xfrm>
            <a:off x="7401941" y="0"/>
            <a:ext cx="4790059" cy="6587067"/>
          </a:xfr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Opening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1"/>
            <a:ext cx="10850138" cy="3659161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Appropriate </a:t>
            </a:r>
            <a:r>
              <a:rPr lang="en-US" sz="2800" b="1" dirty="0"/>
              <a:t>opening slide</a:t>
            </a:r>
            <a:r>
              <a:rPr lang="en-US" sz="2800" dirty="0"/>
              <a:t>, with title, date, names (candidate, supervisor, moderator), etc. is provided.	</a:t>
            </a:r>
          </a:p>
          <a:p>
            <a:r>
              <a:rPr lang="en-US" sz="2800" b="1" dirty="0"/>
              <a:t>Slide </a:t>
            </a:r>
            <a:r>
              <a:rPr lang="en-US" sz="2800" dirty="0"/>
              <a:t>layout, background, slide elements and </a:t>
            </a:r>
            <a:r>
              <a:rPr lang="en-US" sz="2800" b="1" dirty="0"/>
              <a:t>text </a:t>
            </a:r>
            <a:r>
              <a:rPr lang="en-US" sz="2800" dirty="0"/>
              <a:t>(font size and highlight) are appropriately chosen	</a:t>
            </a:r>
          </a:p>
          <a:p>
            <a:r>
              <a:rPr lang="en-US" sz="2800" dirty="0"/>
              <a:t>Appropriate </a:t>
            </a:r>
            <a:r>
              <a:rPr lang="en-US" sz="2800" b="1" dirty="0"/>
              <a:t>references </a:t>
            </a:r>
            <a:r>
              <a:rPr lang="en-US" sz="2800" dirty="0"/>
              <a:t>are made to other resources where required	</a:t>
            </a:r>
          </a:p>
          <a:p>
            <a:r>
              <a:rPr lang="en-US" sz="2800" dirty="0"/>
              <a:t>Viewer experience is such that the presentation materials communicates the </a:t>
            </a:r>
            <a:r>
              <a:rPr lang="en-US" sz="2800" b="1" dirty="0"/>
              <a:t>overall project well</a:t>
            </a:r>
            <a:r>
              <a:rPr lang="en-US" sz="2800" dirty="0"/>
              <a:t>	</a:t>
            </a:r>
          </a:p>
          <a:p>
            <a:r>
              <a:rPr lang="en-US" sz="2800" b="1" dirty="0"/>
              <a:t>Words </a:t>
            </a:r>
            <a:r>
              <a:rPr lang="en-US" sz="2800" dirty="0"/>
              <a:t>are well selected and used correctly in the presentation materials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B34A9-D357-4093-C997-E634648C1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DFD7390F-8831-3AF1-763C-B78507AF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Content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103705-F888-A652-95DF-CBCE480F92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09" y="1927599"/>
            <a:ext cx="10850138" cy="3659161"/>
          </a:xfrm>
        </p:spPr>
        <p:txBody>
          <a:bodyPr>
            <a:normAutofit fontScale="92500"/>
          </a:bodyPr>
          <a:lstStyle/>
          <a:p>
            <a:r>
              <a:rPr lang="en-US" sz="2800" b="1" dirty="0"/>
              <a:t>Outline </a:t>
            </a:r>
            <a:r>
              <a:rPr lang="en-US" sz="2800" dirty="0"/>
              <a:t>of the main topics to be covered in the presentation is provided	</a:t>
            </a:r>
          </a:p>
          <a:p>
            <a:r>
              <a:rPr lang="en-US" sz="2800" dirty="0"/>
              <a:t>Ideas and concepts in the presentation sequence are </a:t>
            </a:r>
            <a:r>
              <a:rPr lang="en-US" sz="2800" b="1" dirty="0"/>
              <a:t>linked and logically coherent</a:t>
            </a:r>
            <a:endParaRPr lang="en-US" sz="2800" dirty="0"/>
          </a:p>
          <a:p>
            <a:r>
              <a:rPr lang="en-US" sz="2800" b="1" dirty="0"/>
              <a:t>Main description </a:t>
            </a:r>
            <a:r>
              <a:rPr lang="en-US" sz="2800" dirty="0"/>
              <a:t>of the project is presented (introduction, overview of the project, objectives and problem statements, motivations, justifications, scope, literature review/background study, etc.).	</a:t>
            </a:r>
          </a:p>
          <a:p>
            <a:r>
              <a:rPr lang="en-US" sz="2800" b="1" dirty="0"/>
              <a:t>Design and implementation </a:t>
            </a:r>
            <a:r>
              <a:rPr lang="en-US" sz="2800" dirty="0"/>
              <a:t>plan are presented	</a:t>
            </a:r>
          </a:p>
          <a:p>
            <a:r>
              <a:rPr lang="en-US" sz="2800" dirty="0"/>
              <a:t>Specific </a:t>
            </a:r>
            <a:r>
              <a:rPr lang="en-US" sz="2800" b="1" dirty="0"/>
              <a:t>methods, techniques, algorithms</a:t>
            </a:r>
            <a:r>
              <a:rPr lang="en-US" sz="2800" dirty="0"/>
              <a:t>, unique or novel features are highlighted.	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2AEC3-23A0-C89A-2FB6-4458F7665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861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0DF1-677F-D5FE-FBD4-613733269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BF1C937-6805-EBAA-6E43-255FAD16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Q &amp; 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2AE91FA-7C66-4ECB-DAF0-7D8B292E4A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09" y="1927599"/>
            <a:ext cx="10850138" cy="3659161"/>
          </a:xfrm>
        </p:spPr>
        <p:txBody>
          <a:bodyPr>
            <a:normAutofit/>
          </a:bodyPr>
          <a:lstStyle/>
          <a:p>
            <a:r>
              <a:rPr lang="en-US" sz="2800" dirty="0"/>
              <a:t>More than 50% of the </a:t>
            </a:r>
            <a:r>
              <a:rPr lang="en-US" sz="2800" b="1" dirty="0"/>
              <a:t>questions were responded</a:t>
            </a:r>
            <a:r>
              <a:rPr lang="en-US" sz="2800" dirty="0"/>
              <a:t>.	</a:t>
            </a:r>
          </a:p>
          <a:p>
            <a:r>
              <a:rPr lang="en-US" sz="2800" dirty="0"/>
              <a:t>The answers demonstrate the presenter having a </a:t>
            </a:r>
            <a:r>
              <a:rPr lang="en-US" sz="2800" b="1" dirty="0"/>
              <a:t>good and rounded knowledge </a:t>
            </a:r>
            <a:r>
              <a:rPr lang="en-US" sz="2800" dirty="0"/>
              <a:t>on the subject matter</a:t>
            </a:r>
          </a:p>
          <a:p>
            <a:r>
              <a:rPr lang="en-US" sz="2800" dirty="0"/>
              <a:t>Use of words reflects having good </a:t>
            </a:r>
            <a:r>
              <a:rPr lang="en-US" sz="2800" b="1" dirty="0"/>
              <a:t>grounded knowledge </a:t>
            </a:r>
            <a:r>
              <a:rPr lang="en-US" sz="2800" dirty="0"/>
              <a:t>on the subject matter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B7BCC4-1CE2-5FF5-EA2E-D50F7DD5F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50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/>
          <a:p>
            <a:r>
              <a:rPr lang="en-US" dirty="0"/>
              <a:t>Delivery</a:t>
            </a:r>
          </a:p>
        </p:txBody>
      </p:sp>
      <p:pic>
        <p:nvPicPr>
          <p:cNvPr id="4" name="Picture Placeholder 3" descr="A person holding a plant">
            <a:extLst>
              <a:ext uri="{FF2B5EF4-FFF2-40B4-BE49-F238E27FC236}">
                <a16:creationId xmlns:a16="http://schemas.microsoft.com/office/drawing/2014/main" id="{0DEBEDD0-2C97-CD36-23CF-99F0828068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24497" r="24497"/>
          <a:stretch/>
        </p:blipFill>
        <p:spPr>
          <a:xfrm>
            <a:off x="-1" y="261780"/>
            <a:ext cx="5046134" cy="6596220"/>
          </a:xfr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62A4A-9DE4-B89E-64A9-76DA1626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F2221E71-A808-4FE1-44A1-6F52D1EBB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Organization &amp; Effectiveness	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FC8154-D4A6-5C3F-97B4-A21874088A6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09" y="1927599"/>
            <a:ext cx="10850138" cy="3659161"/>
          </a:xfrm>
        </p:spPr>
        <p:txBody>
          <a:bodyPr>
            <a:normAutofit/>
          </a:bodyPr>
          <a:lstStyle/>
          <a:p>
            <a:r>
              <a:rPr lang="en-US" sz="2800" b="1" dirty="0"/>
              <a:t>Choice of words </a:t>
            </a:r>
            <a:r>
              <a:rPr lang="en-US" sz="2800" dirty="0"/>
              <a:t>and spoken sentences are appropriate	</a:t>
            </a:r>
          </a:p>
          <a:p>
            <a:r>
              <a:rPr lang="en-US" sz="2800" dirty="0"/>
              <a:t>Clarifications and explanations of </a:t>
            </a:r>
            <a:r>
              <a:rPr lang="en-US" sz="2800" b="1" dirty="0"/>
              <a:t>key points </a:t>
            </a:r>
            <a:r>
              <a:rPr lang="en-US" sz="2800" dirty="0"/>
              <a:t>are good	</a:t>
            </a:r>
          </a:p>
          <a:p>
            <a:r>
              <a:rPr lang="en-US" sz="2800" b="1" dirty="0"/>
              <a:t>No major interruptions </a:t>
            </a:r>
            <a:r>
              <a:rPr lang="en-US" sz="2800" dirty="0"/>
              <a:t>or problems (hiccups) during the presentation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072922-F4A3-D55A-3126-4633AE36C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946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B48D9-B984-5D93-DFF3-4260A1B83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A791012-1C44-B3B9-088A-7F907AB6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Style and Pacing	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2226D2-57AA-2BF9-84C2-29B92DD5A2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09" y="1927599"/>
            <a:ext cx="10850138" cy="3659161"/>
          </a:xfrm>
        </p:spPr>
        <p:txBody>
          <a:bodyPr>
            <a:normAutofit/>
          </a:bodyPr>
          <a:lstStyle/>
          <a:p>
            <a:r>
              <a:rPr lang="en-US" sz="2800" b="1" dirty="0"/>
              <a:t>Spoken words </a:t>
            </a:r>
            <a:r>
              <a:rPr lang="en-US" sz="2800" dirty="0"/>
              <a:t>are clear and concise with appropriate </a:t>
            </a:r>
            <a:r>
              <a:rPr lang="en-US" sz="2800" b="1" dirty="0"/>
              <a:t>pauses and breaks</a:t>
            </a:r>
            <a:endParaRPr lang="en-US" sz="2800" dirty="0"/>
          </a:p>
          <a:p>
            <a:r>
              <a:rPr lang="en-US" sz="2800" b="1" dirty="0"/>
              <a:t>Speech volume and tone </a:t>
            </a:r>
            <a:r>
              <a:rPr lang="en-US" sz="2800" dirty="0"/>
              <a:t>are appropriate	</a:t>
            </a:r>
          </a:p>
          <a:p>
            <a:r>
              <a:rPr lang="en-US" sz="2800" b="1" dirty="0"/>
              <a:t>Engagement with the audience </a:t>
            </a:r>
            <a:r>
              <a:rPr lang="en-US" sz="2800" dirty="0"/>
              <a:t>is good (camera at eye level, good lighting, Mic check etc.)</a:t>
            </a:r>
            <a:r>
              <a:rPr lang="en-US" sz="3600" dirty="0"/>
              <a:t>	</a:t>
            </a:r>
          </a:p>
          <a:p>
            <a:pPr lvl="1"/>
            <a:r>
              <a:rPr lang="en-US" sz="2800" dirty="0"/>
              <a:t>Look into the camera, not your slides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D8B35E-13BE-8C51-7E5A-0460F31B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874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B7E30-3F47-80C4-FD55-A7D25775C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62AF667-3488-26CE-B435-A963955E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Time Management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4D7838-D680-779A-1E39-DD21CB70B4B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09" y="1927599"/>
            <a:ext cx="10850138" cy="3659161"/>
          </a:xfrm>
        </p:spPr>
        <p:txBody>
          <a:bodyPr>
            <a:normAutofit/>
          </a:bodyPr>
          <a:lstStyle/>
          <a:p>
            <a:r>
              <a:rPr lang="en-US" sz="2800" b="1" dirty="0"/>
              <a:t>Time duration </a:t>
            </a:r>
            <a:r>
              <a:rPr lang="en-US" sz="2800" dirty="0"/>
              <a:t>spent for delivery of key points are appropriate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0B4041-1FDB-6B02-26D0-B33ACCF5F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366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of Assessment: 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Prototype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Proof-of-Concept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Simulation Demonstration</a:t>
            </a:r>
            <a:endParaRPr lang="en-US" sz="2400" dirty="0"/>
          </a:p>
        </p:txBody>
      </p:sp>
      <p:pic>
        <p:nvPicPr>
          <p:cNvPr id="15" name="Picture Placeholder 14" descr="A person in an apron holding a computer">
            <a:extLst>
              <a:ext uri="{FF2B5EF4-FFF2-40B4-BE49-F238E27FC236}">
                <a16:creationId xmlns:a16="http://schemas.microsoft.com/office/drawing/2014/main" id="{48869757-F643-C013-26AA-3DDE950800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1" r="331"/>
          <a:stretch/>
        </p:blipFill>
        <p:spPr>
          <a:xfrm>
            <a:off x="7623125" y="-20757"/>
            <a:ext cx="4589511" cy="6555026"/>
          </a:xfr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026" y="301083"/>
            <a:ext cx="10360152" cy="914400"/>
          </a:xfrm>
        </p:spPr>
        <p:txBody>
          <a:bodyPr/>
          <a:lstStyle/>
          <a:p>
            <a:r>
              <a:rPr lang="en-GB" dirty="0"/>
              <a:t>Prototype/Proof-of-Concept/Simulation Demonstration 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5633" y="1564389"/>
            <a:ext cx="5657469" cy="3877055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 basic prototype/ proof-of-concept /simulation is </a:t>
            </a:r>
            <a:r>
              <a:rPr lang="en-US" b="1" dirty="0"/>
              <a:t>demonstrated</a:t>
            </a:r>
            <a:r>
              <a:rPr lang="en-US" dirty="0"/>
              <a:t>.	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Major challenges </a:t>
            </a:r>
            <a:r>
              <a:rPr lang="en-US" dirty="0"/>
              <a:t>for the entire project have been identified.	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prototype/ proof-of-concept /simulation is </a:t>
            </a:r>
            <a:r>
              <a:rPr lang="en-US" b="1" dirty="0"/>
              <a:t>technically sound</a:t>
            </a:r>
            <a:r>
              <a:rPr lang="en-US" dirty="0"/>
              <a:t>.	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prototype/ proof-of-concept /simulation demonstrated is </a:t>
            </a:r>
            <a:r>
              <a:rPr lang="en-US" b="1" dirty="0"/>
              <a:t>aligned to the objectives/deliverables </a:t>
            </a:r>
            <a:r>
              <a:rPr lang="en-US" dirty="0"/>
              <a:t>defined in the project.	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prototype/ proof-of-concept /simulation demonstrated shows assuredness that the </a:t>
            </a:r>
            <a:r>
              <a:rPr lang="en-US" b="1" dirty="0"/>
              <a:t>work belongs to the student</a:t>
            </a:r>
            <a:r>
              <a:rPr lang="en-US" dirty="0"/>
              <a:t>.	</a:t>
            </a:r>
          </a:p>
          <a:p>
            <a:pPr marL="4572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932" y="1564389"/>
            <a:ext cx="5657469" cy="4736591"/>
          </a:xfrm>
        </p:spPr>
        <p:txBody>
          <a:bodyPr>
            <a:noAutofit/>
          </a:bodyPr>
          <a:lstStyle/>
          <a:p>
            <a:r>
              <a:rPr lang="en-US" dirty="0"/>
              <a:t>6 All </a:t>
            </a:r>
            <a:r>
              <a:rPr lang="en-US" b="1" dirty="0"/>
              <a:t>activities </a:t>
            </a:r>
            <a:r>
              <a:rPr lang="en-US" dirty="0"/>
              <a:t>to address the identified challenges are </a:t>
            </a:r>
            <a:r>
              <a:rPr lang="en-US" b="1" dirty="0"/>
              <a:t>properly planned </a:t>
            </a:r>
            <a:r>
              <a:rPr lang="en-US" dirty="0"/>
              <a:t>for the entire project.	</a:t>
            </a:r>
          </a:p>
          <a:p>
            <a:r>
              <a:rPr lang="en-US" dirty="0"/>
              <a:t>7 The </a:t>
            </a:r>
            <a:r>
              <a:rPr lang="en-US" b="1" dirty="0"/>
              <a:t>risks </a:t>
            </a:r>
            <a:r>
              <a:rPr lang="en-US" dirty="0"/>
              <a:t>for all activities in the entire project have been identified and assessed. Mitigation measures have also been created.	</a:t>
            </a:r>
          </a:p>
          <a:p>
            <a:r>
              <a:rPr lang="en-US" dirty="0"/>
              <a:t>8 Based on evidence of current work progress, the project assessor believes that the </a:t>
            </a:r>
            <a:r>
              <a:rPr lang="en-US" b="1" dirty="0"/>
              <a:t>proposed overall implementation schedule for Phase 2 </a:t>
            </a:r>
            <a:r>
              <a:rPr lang="en-US" dirty="0"/>
              <a:t>is reasonable and achievable.	</a:t>
            </a:r>
          </a:p>
          <a:p>
            <a:r>
              <a:rPr lang="en-US" dirty="0"/>
              <a:t>9 The </a:t>
            </a:r>
            <a:r>
              <a:rPr lang="en-US" b="1" dirty="0"/>
              <a:t>proposed solutions and the implementations </a:t>
            </a:r>
            <a:r>
              <a:rPr lang="en-US" dirty="0"/>
              <a:t>(what to do and how to do them exactly) are clearly explained and found to be achievable.	</a:t>
            </a:r>
          </a:p>
          <a:p>
            <a:r>
              <a:rPr lang="en-US" dirty="0"/>
              <a:t>10 Overall, the project assessor is </a:t>
            </a:r>
            <a:r>
              <a:rPr lang="en-US" b="1" dirty="0"/>
              <a:t>satisfied </a:t>
            </a:r>
            <a:r>
              <a:rPr lang="en-US" dirty="0"/>
              <a:t>with the ensuing explanations and clarifications, and confidently believes that the whole project will be a success by the end of Phase 2	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BD5A-53B7-08CD-41D0-6A01F48A9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Tips</a:t>
            </a:r>
          </a:p>
        </p:txBody>
      </p:sp>
      <p:pic>
        <p:nvPicPr>
          <p:cNvPr id="5" name="Picture Placeholder 4" descr="Reading cartoon bee">
            <a:extLst>
              <a:ext uri="{FF2B5EF4-FFF2-40B4-BE49-F238E27FC236}">
                <a16:creationId xmlns:a16="http://schemas.microsoft.com/office/drawing/2014/main" id="{DDF4F3A2-30B7-9635-49DC-562BEF48D76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648" r="164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0905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59FC-2D0A-D5B1-AFEE-437234BF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/>
            </a:br>
            <a:r>
              <a:rPr lang="en-US" dirty="0"/>
              <a:t>Before the Presentation: Prepare Smart, Not Perfect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4EBB7FF-D0E0-7584-1F38-73A29298026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solidFill>
            <a:srgbClr val="FFFFFF">
              <a:alpha val="50196"/>
            </a:srgbClr>
          </a:solidFill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Know your story, not just your slides</a:t>
            </a:r>
          </a:p>
          <a:p>
            <a:r>
              <a:rPr lang="en-US" dirty="0"/>
              <a:t>Your presentation should answer:</a:t>
            </a:r>
          </a:p>
          <a:p>
            <a:r>
              <a:rPr lang="en-US" b="1" dirty="0"/>
              <a:t>What problem</a:t>
            </a:r>
            <a:r>
              <a:rPr lang="en-US" dirty="0"/>
              <a:t> are you solving?</a:t>
            </a:r>
          </a:p>
          <a:p>
            <a:r>
              <a:rPr lang="en-US" b="1" dirty="0"/>
              <a:t>Why</a:t>
            </a:r>
            <a:r>
              <a:rPr lang="en-US" dirty="0"/>
              <a:t> does it matter?</a:t>
            </a:r>
          </a:p>
          <a:p>
            <a:r>
              <a:rPr lang="en-US" b="1" dirty="0"/>
              <a:t>How</a:t>
            </a:r>
            <a:r>
              <a:rPr lang="en-US" dirty="0"/>
              <a:t> does your system / research solve it?</a:t>
            </a:r>
          </a:p>
          <a:p>
            <a:r>
              <a:rPr lang="en-US" b="1" dirty="0"/>
              <a:t>What works well</a:t>
            </a:r>
            <a:r>
              <a:rPr lang="en-US" dirty="0"/>
              <a:t> and </a:t>
            </a:r>
            <a:r>
              <a:rPr lang="en-US" b="1" dirty="0"/>
              <a:t>what are the limitations</a:t>
            </a:r>
            <a:r>
              <a:rPr lang="en-US" dirty="0"/>
              <a:t>?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2FC1E-4319-D5BC-912E-E45A2521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03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EB04-AB37-92EF-2BD1-042BA67F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5D5FC-E2B3-16A5-83DA-3F6B84FEB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/>
            </a:br>
            <a:r>
              <a:rPr lang="en-US" dirty="0"/>
              <a:t>Before the Presentation: Prepare Smart, Not Perfect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0CFFAC8-399C-A7E8-1CB1-BFA4BDED895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2"/>
            <a:ext cx="10360025" cy="2209504"/>
          </a:xfrm>
          <a:solidFill>
            <a:srgbClr val="FFFFFF">
              <a:alpha val="50196"/>
            </a:srgbClr>
          </a:solidFill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Keep slides clean and readable</a:t>
            </a:r>
          </a:p>
          <a:p>
            <a:r>
              <a:rPr lang="en-US" dirty="0"/>
              <a:t>Use </a:t>
            </a:r>
            <a:r>
              <a:rPr lang="en-US" b="1" dirty="0"/>
              <a:t>short bullet points</a:t>
            </a:r>
            <a:r>
              <a:rPr lang="en-US" dirty="0"/>
              <a:t>, not paragraphs</a:t>
            </a:r>
          </a:p>
          <a:p>
            <a:r>
              <a:rPr lang="en-US" dirty="0"/>
              <a:t>Use diagrams, or flowcharts where possible</a:t>
            </a:r>
          </a:p>
          <a:p>
            <a:r>
              <a:rPr lang="en-US" dirty="0"/>
              <a:t>Font size large enough to read on a small screen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08FD-F94B-C54A-02E4-08863F6DE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109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7B50-CB69-7182-EF7E-17769DCE0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7DB1-4868-E676-D471-05AF2051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/>
            </a:br>
            <a:r>
              <a:rPr lang="en-US" dirty="0"/>
              <a:t>Before the Presentation: Prepare Smart, Not Perfect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39839FEC-6D7E-8417-FA93-59952535394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2"/>
            <a:ext cx="10360025" cy="2209504"/>
          </a:xfrm>
          <a:solidFill>
            <a:srgbClr val="FFFFFF">
              <a:alpha val="50196"/>
            </a:srgb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noProof="0" dirty="0"/>
              <a:t>3. Rehearse with time in mind</a:t>
            </a:r>
          </a:p>
          <a:p>
            <a:r>
              <a:rPr lang="en-GB" noProof="0" dirty="0"/>
              <a:t>Practise once </a:t>
            </a:r>
            <a:r>
              <a:rPr lang="en-GB" b="1" noProof="0" dirty="0"/>
              <a:t>with slides</a:t>
            </a:r>
            <a:endParaRPr lang="en-GB" noProof="0" dirty="0"/>
          </a:p>
          <a:p>
            <a:r>
              <a:rPr lang="en-GB" noProof="0" dirty="0"/>
              <a:t>Practise once </a:t>
            </a:r>
            <a:r>
              <a:rPr lang="en-GB" b="1" noProof="0" dirty="0"/>
              <a:t>without slides</a:t>
            </a:r>
            <a:r>
              <a:rPr lang="en-GB" noProof="0" dirty="0"/>
              <a:t> (to test understanding)</a:t>
            </a:r>
          </a:p>
          <a:p>
            <a:r>
              <a:rPr lang="en-GB" noProof="0" dirty="0"/>
              <a:t>Aim to finish </a:t>
            </a:r>
            <a:r>
              <a:rPr lang="en-GB" b="1" noProof="0" dirty="0"/>
              <a:t>1–2 minutes earlier</a:t>
            </a:r>
            <a:r>
              <a:rPr lang="en-GB" noProof="0" dirty="0"/>
              <a:t> than the allocated time (approx. 20 mins)</a:t>
            </a:r>
          </a:p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CA360-2FC9-C58D-366D-DA452B3CD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386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AED55-A2E7-C926-F584-755AEBD2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B515-A323-5460-9037-E0CBB1DC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/>
            </a:br>
            <a:r>
              <a:rPr lang="en-US" dirty="0"/>
              <a:t>Before the Presentation: Prepare Smart, Not Perfect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D426F9F-EC5F-F9B7-DEEC-AF4A09B1247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1763455"/>
          </a:xfrm>
          <a:solidFill>
            <a:srgbClr val="FFFFFF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Prepare for common questions</a:t>
            </a:r>
          </a:p>
          <a:p>
            <a:pPr marL="0" indent="0">
              <a:buNone/>
            </a:pPr>
            <a:r>
              <a:rPr lang="en-US" dirty="0"/>
              <a:t>Be ready to explain:</a:t>
            </a:r>
          </a:p>
          <a:p>
            <a:r>
              <a:rPr lang="en-US" dirty="0"/>
              <a:t>Why you chose this technology / method / model /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60052-CB70-779F-CB19-123BB2A30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711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35980-3849-D256-E909-817ED16D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EF29F-79B3-26FB-75ED-FF2302801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During the Presentation: Deliver with Confidence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B0F10474-ABBD-B2FF-B5BF-3F35DA187850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2767065"/>
          </a:xfrm>
          <a:solidFill>
            <a:srgbClr val="FFFFFF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Look at the camera, not the screen</a:t>
            </a:r>
          </a:p>
          <a:p>
            <a:r>
              <a:rPr lang="en-US" dirty="0"/>
              <a:t>Camera = eye contact</a:t>
            </a:r>
          </a:p>
          <a:p>
            <a:r>
              <a:rPr lang="en-US" dirty="0"/>
              <a:t>Sit upright, don’t slouch</a:t>
            </a:r>
          </a:p>
          <a:p>
            <a:r>
              <a:rPr lang="en-US" dirty="0"/>
              <a:t>Speak </a:t>
            </a:r>
            <a:r>
              <a:rPr lang="en-US" b="1" dirty="0"/>
              <a:t>slightly slower</a:t>
            </a:r>
            <a:r>
              <a:rPr lang="en-US" dirty="0"/>
              <a:t> than normal</a:t>
            </a:r>
          </a:p>
          <a:p>
            <a:r>
              <a:rPr lang="en-US" dirty="0"/>
              <a:t>Online ≠ casual. Treat it like a professional presentation.</a:t>
            </a:r>
          </a:p>
          <a:p>
            <a:pPr marL="0" indent="0">
              <a:buNone/>
            </a:pP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62F14-79A5-BA51-714D-050E1DBEB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919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AF2F0-C57B-3E11-C3A6-8DD25B06C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161F5-7893-7775-3932-C9F5287D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During the Presentation: Deliver with Confidence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EF84226-038B-D96A-56B9-D9BDBBF76032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4149816"/>
          </a:xfrm>
          <a:solidFill>
            <a:srgbClr val="FFFFFF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6. Explain, don’t read</a:t>
            </a:r>
          </a:p>
          <a:p>
            <a:r>
              <a:rPr lang="en-US" dirty="0"/>
              <a:t>Examiners already see your slides.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What they want is:</a:t>
            </a:r>
          </a:p>
          <a:p>
            <a:r>
              <a:rPr lang="en-US" dirty="0"/>
              <a:t>Explanation</a:t>
            </a:r>
          </a:p>
          <a:p>
            <a:r>
              <a:rPr lang="en-US" dirty="0"/>
              <a:t>Reasoning</a:t>
            </a:r>
          </a:p>
          <a:p>
            <a:r>
              <a:rPr lang="en-US" dirty="0"/>
              <a:t>Understanding</a:t>
            </a:r>
          </a:p>
          <a:p>
            <a:r>
              <a:rPr lang="en-US" dirty="0"/>
              <a:t>Reading directly from slides lowers marks.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74512-25B0-735F-4BA8-72C37E0E2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50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C277-F1B0-DCC8-E589-A102E718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3DEC-3AC9-A553-8F1A-146472E5A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During the Presentation: Deliver with Confidence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DCB35B81-C19E-6584-4A51-439A60F3848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4149816"/>
          </a:xfrm>
          <a:solidFill>
            <a:srgbClr val="FFFFFF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7. Show your demo properly</a:t>
            </a:r>
          </a:p>
          <a:p>
            <a:r>
              <a:rPr lang="en-US" dirty="0"/>
              <a:t>Show </a:t>
            </a:r>
            <a:r>
              <a:rPr lang="en-US" b="1" dirty="0"/>
              <a:t>key features only</a:t>
            </a:r>
            <a:endParaRPr lang="en-US" dirty="0"/>
          </a:p>
          <a:p>
            <a:r>
              <a:rPr lang="en-US" dirty="0"/>
              <a:t>Explain </a:t>
            </a:r>
            <a:r>
              <a:rPr lang="en-US" i="1" dirty="0"/>
              <a:t>what you are doing</a:t>
            </a:r>
            <a:r>
              <a:rPr lang="en-US" dirty="0"/>
              <a:t> while demonstrating</a:t>
            </a:r>
          </a:p>
          <a:p>
            <a:r>
              <a:rPr lang="en-US" dirty="0"/>
              <a:t>Have screenshots ready in case the demo fails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98630-3C2C-221D-400F-4517D169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01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C2A7-6EC1-CB75-EA56-8BFC1D86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9951-E98C-25FF-0E70-2E1657CC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Q&amp;A: This Matters a LOT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ABE7CC6-A7D1-0675-91A2-0FD0B9CA1B8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2912030"/>
          </a:xfrm>
          <a:solidFill>
            <a:srgbClr val="FFFFFF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8. Listen carefully before answering</a:t>
            </a:r>
          </a:p>
          <a:p>
            <a:r>
              <a:rPr lang="en-US" dirty="0"/>
              <a:t>Don’t rush</a:t>
            </a:r>
          </a:p>
          <a:p>
            <a:r>
              <a:rPr lang="en-US" dirty="0"/>
              <a:t>It’s okay to pause and think</a:t>
            </a:r>
          </a:p>
          <a:p>
            <a:r>
              <a:rPr lang="en-US" dirty="0"/>
              <a:t>Repeat or rephrase the question if needed</a:t>
            </a:r>
          </a:p>
          <a:p>
            <a:r>
              <a:rPr lang="en-US" dirty="0"/>
              <a:t>This shows confidence and comprehension.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5AC17-B234-44DA-EE94-92667C439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04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5393-9916-653A-06E7-436E34B7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8931-723D-7024-5C61-614347D7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Q&amp;A: This Matters a LOT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E53E8B9-2A81-7368-129E-ADD5F65B411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2912030"/>
          </a:xfrm>
          <a:solidFill>
            <a:srgbClr val="FFFFFF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8. Listen carefully before answering</a:t>
            </a:r>
          </a:p>
          <a:p>
            <a:r>
              <a:rPr lang="en-US" dirty="0"/>
              <a:t>Don’t rush</a:t>
            </a:r>
          </a:p>
          <a:p>
            <a:r>
              <a:rPr lang="en-US" dirty="0"/>
              <a:t>It’s okay to pause and think</a:t>
            </a:r>
          </a:p>
          <a:p>
            <a:r>
              <a:rPr lang="en-US" dirty="0"/>
              <a:t>Repeat or rephrase the question if needed</a:t>
            </a:r>
          </a:p>
          <a:p>
            <a:r>
              <a:rPr lang="en-US" dirty="0"/>
              <a:t>This shows confidence and comprehension.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147BA-EECB-D960-98A4-6663E5406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873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97F6E-1668-4483-7927-9AF49EC6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226C-E771-9972-2054-5C379B840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Q&amp;A: This Matters a LOT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A4B33827-D0A6-E4A1-289C-BB4949A65C6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2912030"/>
          </a:xfrm>
          <a:solidFill>
            <a:srgbClr val="FFFFFF">
              <a:alpha val="50196"/>
            </a:srgb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9. If you don’t know, be honest</a:t>
            </a:r>
          </a:p>
          <a:p>
            <a:pPr marL="0" indent="0">
              <a:buNone/>
            </a:pPr>
            <a:r>
              <a:rPr lang="en-US" dirty="0"/>
              <a:t>Instead of guessing, say:</a:t>
            </a:r>
          </a:p>
          <a:p>
            <a:r>
              <a:rPr lang="en-US" dirty="0"/>
              <a:t>“I did not think of that, but it could be improved by…”</a:t>
            </a:r>
          </a:p>
          <a:p>
            <a:r>
              <a:rPr lang="en-US" dirty="0"/>
              <a:t>“This is a limitation of my current scope…”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Honesty &gt; overconfidence.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A4716-CA09-A501-F0ED-4F53301D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603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7D1B-9E4D-01F3-A3D1-46D8D1EE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A128-F80F-93C8-447B-624E4F27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&amp; Professional Checklist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D1E0F6E3-5324-C103-D058-C276D02EC3D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2878577"/>
          </a:xfrm>
          <a:solidFill>
            <a:srgbClr val="FFFFFF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10. Test your setup early</a:t>
            </a:r>
          </a:p>
          <a:p>
            <a:r>
              <a:rPr lang="en-US" dirty="0"/>
              <a:t>Stable internet</a:t>
            </a:r>
          </a:p>
          <a:p>
            <a:r>
              <a:rPr lang="en-US" dirty="0"/>
              <a:t>Working microphone</a:t>
            </a:r>
          </a:p>
          <a:p>
            <a:r>
              <a:rPr lang="en-US" dirty="0"/>
              <a:t>Working webcam</a:t>
            </a:r>
          </a:p>
          <a:p>
            <a:r>
              <a:rPr lang="en-US" dirty="0"/>
              <a:t>Quiet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5E1E0-AE1C-73F1-C85D-2A03AE9F9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609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84CF2-8EA0-EAA8-067B-E188F45D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0645-B05A-44C0-41B6-47429003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&amp; Professional Checklist</a:t>
            </a:r>
            <a:endParaRPr lang="en-GB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1479CC8-7C07-8361-6106-B47C27B31C1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2878577"/>
          </a:xfrm>
          <a:solidFill>
            <a:srgbClr val="FFFFFF">
              <a:alpha val="50196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11. Dress and behave professionally</a:t>
            </a:r>
          </a:p>
          <a:p>
            <a:r>
              <a:rPr lang="en-US" dirty="0"/>
              <a:t>Smart casual at minimum</a:t>
            </a:r>
          </a:p>
          <a:p>
            <a:r>
              <a:rPr lang="en-US" dirty="0"/>
              <a:t>Avoid distractions (phone, background noise)</a:t>
            </a:r>
          </a:p>
          <a:p>
            <a:r>
              <a:rPr lang="en-US" dirty="0"/>
              <a:t>Be respectful to examiners</a:t>
            </a:r>
          </a:p>
          <a:p>
            <a:r>
              <a:rPr lang="en-US" dirty="0"/>
              <a:t>Online is still an </a:t>
            </a:r>
            <a:r>
              <a:rPr lang="en-US" b="1" dirty="0"/>
              <a:t>academic assessment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AEA2D-7255-5091-7644-18D7E534F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597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8809" y="4562172"/>
            <a:ext cx="3735660" cy="187075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C0D8C2-3510-D82E-D4DF-7F1222E772E2}"/>
              </a:ext>
            </a:extLst>
          </p:cNvPr>
          <p:cNvSpPr txBox="1"/>
          <p:nvPr/>
        </p:nvSpPr>
        <p:spPr>
          <a:xfrm>
            <a:off x="4471639" y="1360449"/>
            <a:ext cx="690260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noProof="0"/>
              <a:t>Final Advice to Students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noProof="0" dirty="0"/>
              <a:t>You are not expected to be perfect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noProof="0" dirty="0"/>
              <a:t>You are expected to </a:t>
            </a:r>
            <a:r>
              <a:rPr lang="en-GB" sz="2800" b="1" noProof="0" dirty="0"/>
              <a:t>understand your own project</a:t>
            </a:r>
            <a:endParaRPr lang="en-GB" sz="2800" noProof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noProof="0" dirty="0"/>
              <a:t>Confidence comes from preparation, not memorisation</a:t>
            </a:r>
          </a:p>
          <a:p>
            <a:endParaRPr lang="en-GB" sz="2800" noProof="0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6afc39-cd89-493e-a766-40900e63b0ad"/>
    <lcf76f155ced4ddcb4097134ff3c332f xmlns="5b82a09e-cf47-48ac-847c-97bbf6b3f28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0D3D83C3CF054B876C14EE652F99D8" ma:contentTypeVersion="13" ma:contentTypeDescription="Create a new document." ma:contentTypeScope="" ma:versionID="911eaf4b272fa771ddd4b456dee2cc35">
  <xsd:schema xmlns:xsd="http://www.w3.org/2001/XMLSchema" xmlns:xs="http://www.w3.org/2001/XMLSchema" xmlns:p="http://schemas.microsoft.com/office/2006/metadata/properties" xmlns:ns2="5b82a09e-cf47-48ac-847c-97bbf6b3f286" xmlns:ns3="df6afc39-cd89-493e-a766-40900e63b0ad" targetNamespace="http://schemas.microsoft.com/office/2006/metadata/properties" ma:root="true" ma:fieldsID="e662316db693e4423732092819e4891f" ns2:_="" ns3:_="">
    <xsd:import namespace="5b82a09e-cf47-48ac-847c-97bbf6b3f286"/>
    <xsd:import namespace="df6afc39-cd89-493e-a766-40900e63b0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82a09e-cf47-48ac-847c-97bbf6b3f2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afc39-cd89-493e-a766-40900e63b0a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4d5b6a3-47ac-4de1-bbe5-91712ca86ce4}" ma:internalName="TaxCatchAll" ma:showField="CatchAllData" ma:web="df6afc39-cd89-493e-a766-40900e63b0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5b82a09e-cf47-48ac-847c-97bbf6b3f286"/>
    <ds:schemaRef ds:uri="http://schemas.openxmlformats.org/package/2006/metadata/core-properties"/>
    <ds:schemaRef ds:uri="df6afc39-cd89-493e-a766-40900e63b0a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49AC325-7DA6-4A6C-BCDD-FD881C09CE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82a09e-cf47-48ac-847c-97bbf6b3f286"/>
    <ds:schemaRef ds:uri="df6afc39-cd89-493e-a766-40900e63b0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{C69ED9D7-BC78-4AE0-AF59-D33FA5302C28}TF1ed9553b-00c4-4092-846a-c8f7f2908f3beecd942f_win32-8e33096c3cfc</Template>
  <TotalTime>48</TotalTime>
  <Words>1140</Words>
  <Application>Microsoft Office PowerPoint</Application>
  <PresentationFormat>Widescreen</PresentationFormat>
  <Paragraphs>174</Paragraphs>
  <Slides>27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Courier New</vt:lpstr>
      <vt:lpstr>Gill Sans Nova Light</vt:lpstr>
      <vt:lpstr>Sagona Book</vt:lpstr>
      <vt:lpstr>Custom</vt:lpstr>
      <vt:lpstr>2530 FYP 1 Oral Presentation</vt:lpstr>
      <vt:lpstr>agenda</vt:lpstr>
      <vt:lpstr>Introduction: Oral Presentation</vt:lpstr>
      <vt:lpstr>Slides</vt:lpstr>
      <vt:lpstr>Opening</vt:lpstr>
      <vt:lpstr>Content</vt:lpstr>
      <vt:lpstr>Q &amp; A</vt:lpstr>
      <vt:lpstr>Delivery</vt:lpstr>
      <vt:lpstr>Organization &amp; Effectiveness </vt:lpstr>
      <vt:lpstr>Style and Pacing </vt:lpstr>
      <vt:lpstr>Time Management</vt:lpstr>
      <vt:lpstr>Area of Assessment:  </vt:lpstr>
      <vt:lpstr>Prototype/Proof-of-Concept/Simulation Demonstration </vt:lpstr>
      <vt:lpstr>Final Tips</vt:lpstr>
      <vt:lpstr> Before the Presentation: Prepare Smart, Not Perfect</vt:lpstr>
      <vt:lpstr> Before the Presentation: Prepare Smart, Not Perfect</vt:lpstr>
      <vt:lpstr> Before the Presentation: Prepare Smart, Not Perfect</vt:lpstr>
      <vt:lpstr> Before the Presentation: Prepare Smart, Not Perfect</vt:lpstr>
      <vt:lpstr>During the Presentation: Deliver with Confidence</vt:lpstr>
      <vt:lpstr>During the Presentation: Deliver with Confidence</vt:lpstr>
      <vt:lpstr>During the Presentation: Deliver with Confidence</vt:lpstr>
      <vt:lpstr>For Q&amp;A: This Matters a LOT</vt:lpstr>
      <vt:lpstr>For Q&amp;A: This Matters a LOT</vt:lpstr>
      <vt:lpstr>For Q&amp;A: This Matters a LOT</vt:lpstr>
      <vt:lpstr>Technical &amp; Professional Checklist</vt:lpstr>
      <vt:lpstr>Technical &amp; Professional Checklist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Mohana A/P Muniandy</dc:creator>
  <cp:lastModifiedBy>Mohana A/P Muniandy</cp:lastModifiedBy>
  <cp:revision>1</cp:revision>
  <dcterms:created xsi:type="dcterms:W3CDTF">2026-02-06T04:42:36Z</dcterms:created>
  <dcterms:modified xsi:type="dcterms:W3CDTF">2026-02-06T05:31:27Z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0x010100280D3D83C3CF054B876C14EE652F99D8</vt:lpwstr>
  </property>
  <property fmtid="{D5CDD505-2E9C-101B-9397-08002B2CF9AE}" pid="3" name="MediaServiceImageTags">
    <vt:lpwstr/>
  </property>
</Properties>
</file>